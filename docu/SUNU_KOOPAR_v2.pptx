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365760" cy="514350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822960"/>
            <a:ext cx="123444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8229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84048" y="2212848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SUNU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KOOPAR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84048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F172A"/>
                </a:solidFill>
              </a:rPr>
              <a:t>RAPIDE · SIMPLE · EFFICACE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94760" y="7772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La plateforme sénégalaise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unifiée pour le Mobile Money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794760" y="2103120"/>
            <a:ext cx="15087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1031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🌊 Wave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40680" y="2103120"/>
            <a:ext cx="15087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21031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🟠 Orange Money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0" y="2103120"/>
            <a:ext cx="15087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21031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💙 Wizall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94760" y="2542032"/>
            <a:ext cx="15087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25420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🔵 Djamo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40680" y="2542032"/>
            <a:ext cx="15087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25420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🟣 Touch Point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94760" y="3127248"/>
            <a:ext cx="50292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32735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Présentation — 6 personnes · ~8 minutes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94760" y="37307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🇸🇳  Projet Sénégal · v2.1</a:t>
            </a:r>
            <a:endParaRPr lang="en-US" sz="13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01168"/>
            <a:ext cx="804672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6400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4747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 Problème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94A3B8"/>
                </a:solidFill>
              </a:rPr>
              <a:t>Les agents de transfert jonglent aujourd'hui avec 5 applications différentes, sans aucune vue d'ensemble.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606040" cy="2578608"/>
          </a:xfrm>
          <a:prstGeom prst="rect">
            <a:avLst/>
          </a:prstGeom>
          <a:solidFill>
            <a:srgbClr val="1E3A5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2606040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01168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6974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 apps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séparées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0936" y="3310128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Wave, OM, Wizall, Djamo, Touch Point — chaque service est géré dans un outil distinct.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1783080"/>
            <a:ext cx="2606040" cy="2578608"/>
          </a:xfrm>
          <a:prstGeom prst="rect">
            <a:avLst/>
          </a:prstGeom>
          <a:solidFill>
            <a:srgbClr val="1E3A5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783080"/>
            <a:ext cx="2606040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01168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26974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Données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fragmentées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65576" y="3310128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Aucun historique centralisé : impossible de consolider les volumes de la journée.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72200" y="1783080"/>
            <a:ext cx="2606040" cy="2578608"/>
          </a:xfrm>
          <a:prstGeom prst="rect">
            <a:avLst/>
          </a:prstGeom>
          <a:solidFill>
            <a:srgbClr val="1E3A5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1783080"/>
            <a:ext cx="2606040" cy="1463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011680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26974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Zéro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traçabilité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00216" y="3310128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Aucune piste d'audit fiable sur qui a validé quoi et quand.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02920" y="4663440"/>
            <a:ext cx="81381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02920" y="46634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⚡  Résultat : erreurs fréquentes, pertes de temps, risque de fraude non détectée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6400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4747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Solution : Architecture à 3 Rôles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2633472" cy="3218688"/>
          </a:xfrm>
          <a:prstGeom prst="rect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07008"/>
            <a:ext cx="2633472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472" y="1481328"/>
            <a:ext cx="658368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231136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0936" y="274320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Choisit le service et le montant, saisit son numéro et reçoit un code OTP par SMS pour confirmer sa demande.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36392" y="2724912"/>
            <a:ext cx="24688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0" y="1207008"/>
            <a:ext cx="2633472" cy="3218688"/>
          </a:xfrm>
          <a:prstGeom prst="rect">
            <a:avLst/>
          </a:prstGeom>
          <a:solidFill>
            <a:srgbClr val="1E3A5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207008"/>
            <a:ext cx="2633472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481328"/>
            <a:ext cx="658368" cy="6583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2231136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EMPLOYÉ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11296" y="274320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Se connecte via clé d'accès, visualise les transactions en attente et les valide ou annule avec motif.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16752" y="2724912"/>
            <a:ext cx="24688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63640" y="1207008"/>
            <a:ext cx="2633472" cy="3218688"/>
          </a:xfrm>
          <a:prstGeom prst="rect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63640" y="1207008"/>
            <a:ext cx="2633472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1481328"/>
            <a:ext cx="658368" cy="6583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2231136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ADMINISTRATEUR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91656" y="274320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Accès complet : suivi financier, courbes d'analyse temps réel et gestion dynamique de l'équipe.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2606040" y="4645152"/>
            <a:ext cx="39319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606040" y="4645152"/>
            <a:ext cx="393192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4700016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154680" y="4645152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Base de données SQLite partagée entre les 3 profils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6400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4747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 5 Applications Supportées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SUNU KOOPAR centralise les 5 principales applications de Mobile Money utilisées au Sénégal.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755648"/>
            <a:ext cx="2514600" cy="1508760"/>
          </a:xfrm>
          <a:prstGeom prst="rect">
            <a:avLst/>
          </a:prstGeom>
          <a:solidFill>
            <a:srgbClr val="1E3A5F"/>
          </a:solidFill>
          <a:ln w="25400">
            <a:solidFill>
              <a:srgbClr val="1DA1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755648"/>
            <a:ext cx="2514600" cy="128016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938528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🌊  Wave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" y="2322576"/>
            <a:ext cx="2295144" cy="219456"/>
          </a:xfrm>
          <a:prstGeom prst="rect">
            <a:avLst/>
          </a:prstGeom>
          <a:solidFill>
            <a:srgbClr val="1DA1F2">
              <a:alpha val="25000"/>
            </a:srgbClr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32257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~6M utilisateurs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2633472"/>
            <a:ext cx="2295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Leader du marché sénégalais.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Transferts instantanés et sans frais.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90672" y="1755648"/>
            <a:ext cx="2514600" cy="1508760"/>
          </a:xfrm>
          <a:prstGeom prst="rect">
            <a:avLst/>
          </a:prstGeom>
          <a:solidFill>
            <a:srgbClr val="1E3A5F"/>
          </a:solidFill>
          <a:ln w="25400">
            <a:solidFill>
              <a:srgbClr val="FF66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90672" y="1755648"/>
            <a:ext cx="2514600" cy="1280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938528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🟠  Orange Money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2322576"/>
            <a:ext cx="2295144" cy="219456"/>
          </a:xfrm>
          <a:prstGeom prst="rect">
            <a:avLst/>
          </a:prstGeom>
          <a:solidFill>
            <a:srgbClr val="FF6600">
              <a:alpha val="25000"/>
            </a:srgbClr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32257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Réseau étendu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0" y="2633472"/>
            <a:ext cx="2295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Solution de l'opérateur Orange.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Large réseau d'agents au Sénégal.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70448" y="1755648"/>
            <a:ext cx="2514600" cy="1508760"/>
          </a:xfrm>
          <a:prstGeom prst="rect">
            <a:avLst/>
          </a:prstGeom>
          <a:solidFill>
            <a:srgbClr val="1E3A5F"/>
          </a:solidFill>
          <a:ln w="25400">
            <a:solidFill>
              <a:srgbClr val="0057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70448" y="1755648"/>
            <a:ext cx="2514600" cy="128016"/>
          </a:xfrm>
          <a:prstGeom prst="rect">
            <a:avLst/>
          </a:prstGeom>
          <a:solidFill>
            <a:srgbClr val="0057A8"/>
          </a:solidFill>
          <a:ln w="12700">
            <a:solidFill>
              <a:srgbClr val="0057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0176" y="1938528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💙  Wizall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80176" y="2322576"/>
            <a:ext cx="2295144" cy="219456"/>
          </a:xfrm>
          <a:prstGeom prst="rect">
            <a:avLst/>
          </a:prstGeom>
          <a:solidFill>
            <a:srgbClr val="0057A8">
              <a:alpha val="25000"/>
            </a:srgbClr>
          </a:solidFill>
          <a:ln w="12700">
            <a:solidFill>
              <a:srgbClr val="0057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0176" y="232257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Acteur local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80176" y="2633472"/>
            <a:ext cx="2295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Portefeuille électronique dédié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aux paiements de proximité.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09928" y="3493008"/>
            <a:ext cx="2514600" cy="1508760"/>
          </a:xfrm>
          <a:prstGeom prst="rect">
            <a:avLst/>
          </a:prstGeom>
          <a:solidFill>
            <a:srgbClr val="1E3A5F"/>
          </a:solidFill>
          <a:ln w="25400">
            <a:solidFill>
              <a:srgbClr val="5B4F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709928" y="3493008"/>
            <a:ext cx="2514600" cy="128016"/>
          </a:xfrm>
          <a:prstGeom prst="rect">
            <a:avLst/>
          </a:prstGeom>
          <a:solidFill>
            <a:srgbClr val="5B4FE9"/>
          </a:solidFill>
          <a:ln w="12700">
            <a:solidFill>
              <a:srgbClr val="5B4F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19656" y="3675888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🔵  Djamo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819656" y="4059936"/>
            <a:ext cx="2295144" cy="219456"/>
          </a:xfrm>
          <a:prstGeom prst="rect">
            <a:avLst/>
          </a:prstGeom>
          <a:solidFill>
            <a:srgbClr val="5B4FE9">
              <a:alpha val="25000"/>
            </a:srgbClr>
          </a:solidFill>
          <a:ln w="12700">
            <a:solidFill>
              <a:srgbClr val="5B4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19656" y="405993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Carte Visa incluse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819656" y="4370832"/>
            <a:ext cx="2295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Néobanque mobile premium.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Carte virtuelle et physique Visa.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80560" y="3493008"/>
            <a:ext cx="2514600" cy="1508760"/>
          </a:xfrm>
          <a:prstGeom prst="rect">
            <a:avLst/>
          </a:prstGeom>
          <a:solidFill>
            <a:srgbClr val="1E3A5F"/>
          </a:solidFill>
          <a:ln w="25400">
            <a:solidFill>
              <a:srgbClr val="9B59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80560" y="3493008"/>
            <a:ext cx="2514600" cy="12801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0288" y="3675888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🟣  Touch Point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90288" y="4059936"/>
            <a:ext cx="2295144" cy="219456"/>
          </a:xfrm>
          <a:prstGeom prst="rect">
            <a:avLst/>
          </a:prstGeom>
          <a:solidFill>
            <a:srgbClr val="9B59B6">
              <a:alpha val="25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0288" y="405993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Points physiques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90288" y="4370832"/>
            <a:ext cx="2295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Réseau de points de transfert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disponible dans tout le pays.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4663440"/>
            <a:ext cx="81381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6634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Opérations disponibles : Dépôt et Retrait — avec validation OTP par SMS pour chaque transaction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6400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4747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Parcours Complet d'une Transaction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78992" y="1188720"/>
            <a:ext cx="45720" cy="3547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152144"/>
            <a:ext cx="566928" cy="566928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152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0972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Demande client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08760" y="149961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Sélectionne l'app, le type (dépôt/retrait), saisit le montant et son numéro à 9 chiffres commençant par 7.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5528" y="2039112"/>
            <a:ext cx="566928" cy="566928"/>
          </a:xfrm>
          <a:prstGeom prst="oval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19842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Code OTP simulé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508760" y="238658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Un code à 4 chiffres est généré aléatoirement et affiché (simulation SMS). Le client le saisit pour confirmer.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" y="2926080"/>
            <a:ext cx="566928" cy="56692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28712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Validation employé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508760" y="327355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L'employé s'authentifie avec sa clé d'accès, voit la file d'attente SQL et valide ou annule avec motif.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5528" y="3813048"/>
            <a:ext cx="566928" cy="566928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813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37581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Bilan administrateur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508760" y="416052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L'admin consulte les totaux dépôts/retraits, les courbes par agent et par service, gère l'équipe.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85232" y="1188720"/>
            <a:ext cx="3538728" cy="358444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1188720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{ EXTRAITS DU CODE 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13248" y="1609344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Génération OTP (Python random)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code_otp = str(randint(1000, 9999))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Insertion SQL (sqlite3)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cursor.execute("""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 INTO transactions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 (?,?,?,?,?,?,?,?)""",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(tx_id, date, service, type,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montant, tel, agent, statut))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Mise à jour statut (CRUD)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db_mettre_a_jour_statut(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tx_id, 'Validé', nom_agent)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663440"/>
            <a:ext cx="81381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6634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Toutes les étapes sont sauvegardées en base SQL — aucune perte de données possible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6400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4747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Technique Complète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109728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618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INTERFACE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15910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Streamlit (Python)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129844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Framework web Python. Widgets réactifs, sidebar, tabs, métriques, graphiques natifs.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130552"/>
            <a:ext cx="10972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05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LOGIQUE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2459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Python 3 + stdlib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21671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Gestion des sessions (st.session_state), génération OTP (random), horodatage (datetime).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999232"/>
            <a:ext cx="10972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9992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DONNÉES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33284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SQLite3 + Pandas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30358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Base embarquée locale, requêtes CRUD, lecture en DataFrame Pandas pour l'analyse.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867912"/>
            <a:ext cx="109728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8679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STYLE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41970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CSS personnalisé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390448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Injection HTML/CSS via st.markdown pour le splash screen, sidebar, boutons et cartes.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1261872"/>
            <a:ext cx="36576" cy="3337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0912" y="1298448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376672" y="1261872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Authentification multi-profils (Client / Employé / Admin)</a:t>
            </a:r>
            <a:endParaRPr lang="en-US" sz="11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847088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76672" y="1810512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Simulation OTP à 4 chiffres (python random)</a:t>
            </a:r>
            <a:endParaRPr lang="en-US" sz="11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2395728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376672" y="2359152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CRUD complet : INSERT, SELECT, UPDATE, DELETE</a:t>
            </a:r>
            <a:endParaRPr lang="en-US" sz="11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294436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76672" y="2907792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Graphiques line_chart temps réel via Pandas pivot</a:t>
            </a:r>
            <a:endParaRPr lang="en-US" sz="11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3493008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76672" y="3456432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Gestion dynamique des employés (ajout / suppression)</a:t>
            </a:r>
            <a:endParaRPr lang="en-US" sz="115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404164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76672" y="4005072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Historique complet et filtrage par statut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02920" y="4663440"/>
            <a:ext cx="81381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502920" y="46634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100% Open Source · Zéro dépendance payante · Déployable en local ou sur le cloud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6400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4747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Langages &amp; Bibliothèques — En Détail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31920" cy="1005840"/>
          </a:xfrm>
          <a:prstGeom prst="rect">
            <a:avLst/>
          </a:prstGeom>
          <a:solidFill>
            <a:srgbClr val="1A3055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88720"/>
            <a:ext cx="128016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159105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Langage principal · Orienté objet · Fonctions modulaires · Gestion d'exceptions · Bibliothèques standards (random, datetime, time, sqlite3)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395728"/>
            <a:ext cx="3931920" cy="1188720"/>
          </a:xfrm>
          <a:prstGeom prst="rect">
            <a:avLst/>
          </a:prstGeom>
          <a:solidFill>
            <a:srgbClr val="0D1B2A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395728"/>
            <a:ext cx="3931920" cy="1280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42032"/>
            <a:ext cx="20445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47518" y="2542032"/>
            <a:ext cx="173004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Framework UI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2889504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Widgets interactifs (selectbox, radio, number_input)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Sidebar, tabs, colonnes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st.session_state pour persistance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Splash screen via st.markdown + CSS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160520" cy="1188720"/>
          </a:xfrm>
          <a:prstGeom prst="rect">
            <a:avLst/>
          </a:prstGeom>
          <a:solidFill>
            <a:srgbClr val="0D1B2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88720"/>
            <a:ext cx="416052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335024"/>
            <a:ext cx="21634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SQLite3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26910" y="1335024"/>
            <a:ext cx="1830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Base de données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0600" y="1682496"/>
            <a:ext cx="3904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2 tables : transactions + employés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Opérations CRUD complètes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Clé primaire TEXT + contrainte UNIQUE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Connexion par fichier .db local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721608"/>
            <a:ext cx="3931920" cy="1170432"/>
          </a:xfrm>
          <a:prstGeom prst="rect">
            <a:avLst/>
          </a:prstGeom>
          <a:solidFill>
            <a:srgbClr val="0D1B2A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721608"/>
            <a:ext cx="3931920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67912"/>
            <a:ext cx="20445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Pandas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47518" y="3867912"/>
            <a:ext cx="173004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Analyse des données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4215384"/>
            <a:ext cx="3675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read_sql_query() → DataFrame direct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Filtrage par colonne (Statut, Type)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pivot_table() pour les graphiques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Agrégation : sum(), fillna(0)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606040"/>
            <a:ext cx="4160520" cy="1170432"/>
          </a:xfrm>
          <a:prstGeom prst="rect">
            <a:avLst/>
          </a:prstGeom>
          <a:solidFill>
            <a:srgbClr val="0D1B2A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606040"/>
            <a:ext cx="4160520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752344"/>
            <a:ext cx="21634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 / HTML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26910" y="2752344"/>
            <a:ext cx="18306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Style &amp; Design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3099816"/>
            <a:ext cx="3904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@import Google Fonts (Inter)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Splash screen full-screen fixed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Sidebar avec image de fond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Boutons dégradés, cartes glassmorphism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4663440"/>
            <a:ext cx="81381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6634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Architecture MVC : Model (SQLite3) · View (Streamlit) · Controller (Python logic)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0"/>
            <a:ext cx="292608" cy="5143500"/>
          </a:xfrm>
          <a:prstGeom prst="rect">
            <a:avLst/>
          </a:prstGeom>
          <a:solidFill>
            <a:srgbClr val="0F172A">
              <a:alpha val="82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59E0B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SUNU KOOPAR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change la donne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2212848"/>
            <a:ext cx="10972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7744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Une seule plateforme Python/Streamlit qui unifie 5 applications mobile money, avec traçabilité complète, gestion d'équipe et tableaux de bord temps réel.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429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59E0B"/>
                </a:solidFill>
              </a:rPr>
              <a:t>PROCHAINES ÉTAPES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8221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📲  Application mobile native Android (Kivy ou React Native)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412394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🔐  Authentification 2FA renforcée (TOTP / vrai SMS)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442569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☁️   Déploiement cloud — AWS, Azure ou Streamlit Cloud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72744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📊  Export PDF des rapports financiers automatisé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72200" y="3657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</a:t>
            </a:r>
            <a:endParaRPr lang="en-US" sz="6200" dirty="0"/>
          </a:p>
        </p:txBody>
      </p:sp>
      <p:sp>
        <p:nvSpPr>
          <p:cNvPr id="14" name="Text 12"/>
          <p:cNvSpPr/>
          <p:nvPr/>
        </p:nvSpPr>
        <p:spPr>
          <a:xfrm>
            <a:off x="6172200" y="1572768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de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votre attention !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72200" y="28163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F172A"/>
                </a:solidFill>
              </a:rPr>
              <a:t>Questions 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3456432"/>
            <a:ext cx="2194560" cy="3657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611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🇸🇳  SUNU KOOPAR v2.1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Python · Streamlit · SQLite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SUNU KOOPAR – Présentation v2</dc:title>
  <dc:subject>PptxGenJS Presentation</dc:subject>
  <dc:creator>PptxGenJS</dc:creator>
  <cp:lastModifiedBy>PptxGenJS</cp:lastModifiedBy>
  <cp:revision>1</cp:revision>
  <dcterms:created xsi:type="dcterms:W3CDTF">2026-05-29T18:10:39Z</dcterms:created>
  <dcterms:modified xsi:type="dcterms:W3CDTF">2026-05-29T18:10:39Z</dcterms:modified>
</cp:coreProperties>
</file>